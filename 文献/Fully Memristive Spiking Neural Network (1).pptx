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24"/>
  </p:notesMasterIdLst>
  <p:sldIdLst>
    <p:sldId id="256" r:id="rId2"/>
    <p:sldId id="257" r:id="rId3"/>
    <p:sldId id="269" r:id="rId4"/>
    <p:sldId id="264" r:id="rId5"/>
    <p:sldId id="259" r:id="rId6"/>
    <p:sldId id="265" r:id="rId7"/>
    <p:sldId id="267" r:id="rId8"/>
    <p:sldId id="260" r:id="rId9"/>
    <p:sldId id="266" r:id="rId10"/>
    <p:sldId id="288" r:id="rId11"/>
    <p:sldId id="271" r:id="rId12"/>
    <p:sldId id="281" r:id="rId13"/>
    <p:sldId id="282" r:id="rId14"/>
    <p:sldId id="284" r:id="rId15"/>
    <p:sldId id="285" r:id="rId16"/>
    <p:sldId id="283" r:id="rId17"/>
    <p:sldId id="258" r:id="rId18"/>
    <p:sldId id="286" r:id="rId19"/>
    <p:sldId id="289" r:id="rId20"/>
    <p:sldId id="261" r:id="rId21"/>
    <p:sldId id="262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647" autoAdjust="0"/>
  </p:normalViewPr>
  <p:slideViewPr>
    <p:cSldViewPr snapToGrid="0">
      <p:cViewPr varScale="1">
        <p:scale>
          <a:sx n="71" d="100"/>
          <a:sy n="71" d="100"/>
        </p:scale>
        <p:origin x="10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1CD62-9605-457E-9485-1C62A42F3495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937A8-7A9E-4FE6-9C2C-21C0ABA81C4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762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49644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879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1439-23DF-282C-19A0-8A57D124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68E9C-DEDC-E2C6-698A-27FC01196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A4C34-5470-9133-D7E4-8C32D81AB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4DA48-5E1D-57DD-1364-31A188478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3381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B7BF-214E-B775-83F3-CBC5AFED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18D3B-1835-2039-946C-F12A7130A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804FB-074E-38A1-AED2-6FD12FE8E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B8FD7-4249-5A94-B2D5-E0A61BBE1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380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0065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202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MY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09247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8390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6632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6276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7C2D0-466A-4C52-89DA-5CC7B08EACA5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5247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6193F-6967-7F97-BC76-0A8B1F56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F260B-4D56-ED36-D94D-60C437AE5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2B702-DF6D-8F7D-99A7-5D3605C3E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4A868-F552-CF9C-22AA-7CF9BF4E4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7C2D0-466A-4C52-89DA-5CC7B08EACA5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25368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605A8-7AAC-D2CA-2036-856E83D4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9E102-4C4A-C3FC-44A4-B265D5402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ACA3B-6069-E6D1-F2D5-C4B553EF9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F605-E30E-3E34-ABFF-2A267903D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7C2D0-466A-4C52-89DA-5CC7B08EACA5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86107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AF6C-1540-DD53-B179-445D5F03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5C82A-F50B-E9A6-F42A-325BCCCB6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E8D24-E0F4-C521-CB03-B0777352C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2E845-8CEF-9157-EDC4-DBCBBD08E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7C2D0-466A-4C52-89DA-5CC7B08EACA5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4855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05367-3325-70CF-2C07-FD5DE521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A3A4F-AED3-6959-916B-6A5C428A2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CEBB3-4BA8-3B3F-CAAD-71CC18C36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DB0D1-1F92-16E3-C635-A0296CE9F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7C2D0-466A-4C52-89DA-5CC7B08EACA5}" type="slidenum">
              <a:rPr lang="en-MY" smtClean="0"/>
              <a:t>15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697646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A33DE-64DF-B1C1-3801-F06C101A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0BEF0-6B50-48D8-CA71-5FABC5E76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E8F9D-E1FC-B6A8-7B80-ECBB2B04F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8DBB5-0C7B-141E-1BE8-CADCE1EAC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7C2D0-466A-4C52-89DA-5CC7B08EACA5}" type="slidenum">
              <a:rPr lang="en-MY" smtClean="0"/>
              <a:t>16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79689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17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8414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6577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98029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937A8-7A9E-4FE6-9C2C-21C0ABA81C46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885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740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986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425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552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570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494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491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421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516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427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1379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71290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5262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5549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5569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906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B1DD4-2D15-4817-8BEE-8C3DD15FB55B}" type="datetimeFigureOut">
              <a:rPr lang="en-MY" smtClean="0"/>
              <a:t>27/4/2026 Monday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478408-9FCE-4371-8CA8-13E677F228B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6175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omptoir-hardware.com/articles/boitiers-alimentations/47301-test-nzxt-h6-flow-rgb-post_839591.html?start=3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opedia.org/edge-computing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www.ochobitshacenunbyte.com/2018/06/13/cambiar-contrasenas-de-usuarios-en-mysql-y-mariadb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ebp"/><Relationship Id="rId4" Type="http://schemas.openxmlformats.org/officeDocument/2006/relationships/hyperlink" Target="https://nobaproject.com/modules/multi-modal-percep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izou.org/2018/07/lif-neuron-tensorflow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2DAD-374B-FB55-5F61-C58E6917E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Fully </a:t>
            </a:r>
            <a:r>
              <a:rPr lang="en-US" dirty="0" err="1"/>
              <a:t>Memristive</a:t>
            </a:r>
            <a:r>
              <a:rPr lang="en-US" dirty="0"/>
              <a:t> Spiking Neural Network</a:t>
            </a:r>
            <a:br>
              <a:rPr lang="en-US" dirty="0"/>
            </a:br>
            <a:r>
              <a:rPr lang="en-US" dirty="0"/>
              <a:t>with Forward-Forward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693A3-8D4F-DB25-7F49-52B9F1D01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By OOI HONG YAN (PETER)</a:t>
            </a:r>
          </a:p>
        </p:txBody>
      </p:sp>
    </p:spTree>
    <p:extLst>
      <p:ext uri="{BB962C8B-B14F-4D97-AF65-F5344CB8AC3E}">
        <p14:creationId xmlns:p14="http://schemas.microsoft.com/office/powerpoint/2010/main" val="1942053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6C07-5AEA-E9D9-B8F1-750E3F33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0EA77-F99B-6B8E-1A43-4F474D9A0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9974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/>
              <a:t>Artificial intelligence (AI) is now the forefront of modern computing</a:t>
            </a:r>
          </a:p>
          <a:p>
            <a:r>
              <a:rPr lang="en-MY" sz="2000" dirty="0"/>
              <a:t>Modern AI relies on backpropagation and matrix operations for learning</a:t>
            </a:r>
          </a:p>
          <a:p>
            <a:r>
              <a:rPr lang="en-MY" sz="2000" dirty="0"/>
              <a:t>For fast speeds AI runs on the GPU to take advantage of parallelism instead of CPU’s sequential nature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CF4196-0545-32F4-7D07-142538131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84" y="3938620"/>
            <a:ext cx="4205484" cy="21027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1A38A6-36C1-7DD3-C841-8546A59B6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91436" y="3938620"/>
            <a:ext cx="3737066" cy="21020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913FC3-92F8-78DE-2112-A759F1F9E430}"/>
              </a:ext>
            </a:extLst>
          </p:cNvPr>
          <p:cNvSpPr txBox="1"/>
          <p:nvPr/>
        </p:nvSpPr>
        <p:spPr>
          <a:xfrm>
            <a:off x="6091435" y="6041362"/>
            <a:ext cx="3422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Comptoir-Hardware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5F3590-FDBF-7142-97DC-080E699C433F}"/>
              </a:ext>
            </a:extLst>
          </p:cNvPr>
          <p:cNvSpPr txBox="1"/>
          <p:nvPr/>
        </p:nvSpPr>
        <p:spPr>
          <a:xfrm>
            <a:off x="770184" y="6040719"/>
            <a:ext cx="3422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</a:t>
            </a:r>
            <a:r>
              <a:rPr lang="en-MY" sz="900" dirty="0" err="1"/>
              <a:t>GeeksforGeeks</a:t>
            </a:r>
            <a:endParaRPr lang="en-MY" sz="900" dirty="0"/>
          </a:p>
        </p:txBody>
      </p:sp>
    </p:spTree>
    <p:extLst>
      <p:ext uri="{BB962C8B-B14F-4D97-AF65-F5344CB8AC3E}">
        <p14:creationId xmlns:p14="http://schemas.microsoft.com/office/powerpoint/2010/main" val="289581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6AFB-C0FE-DE1D-4B10-5507D3DC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E2E8-0DDD-0214-0DDD-12700D67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84B83-E539-97AD-49E3-5BBF67A61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0990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/>
              <a:t>To run AI’s, datacentres use enough power to power an entire city</a:t>
            </a:r>
          </a:p>
          <a:p>
            <a:r>
              <a:rPr lang="en-US" sz="2000" dirty="0"/>
              <a:t>By 2026, the total energy used by data centers globally is projected to reach up to 1,050 TWh. The entire UK uses about 280–300 TWh. </a:t>
            </a:r>
            <a:r>
              <a:rPr lang="en-MY" sz="2000" dirty="0"/>
              <a:t>3.5x more!</a:t>
            </a:r>
          </a:p>
          <a:p>
            <a:r>
              <a:rPr lang="en-MY" sz="2000" dirty="0"/>
              <a:t>For edge devices, power usage is too high for powerful models to be run on small hardware.</a:t>
            </a:r>
          </a:p>
          <a:p>
            <a:endParaRPr lang="en-M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612A5-5216-10CA-37BC-FE9E30916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23795" y="4255004"/>
            <a:ext cx="3313757" cy="1889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98CD7-D7EF-A895-AE99-79EA0863FB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754168" y="4255004"/>
            <a:ext cx="2519834" cy="18898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F830B0-DC18-A706-0FE5-7E18A7923352}"/>
              </a:ext>
            </a:extLst>
          </p:cNvPr>
          <p:cNvSpPr txBox="1"/>
          <p:nvPr/>
        </p:nvSpPr>
        <p:spPr>
          <a:xfrm>
            <a:off x="6754168" y="6156135"/>
            <a:ext cx="29535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</a:t>
            </a:r>
            <a:r>
              <a:rPr lang="en-MY" sz="900" dirty="0" err="1"/>
              <a:t>Devopedia</a:t>
            </a:r>
            <a:endParaRPr lang="en-MY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361893-BD5D-A82F-5BEB-64BC9AAF9E22}"/>
              </a:ext>
            </a:extLst>
          </p:cNvPr>
          <p:cNvSpPr txBox="1"/>
          <p:nvPr/>
        </p:nvSpPr>
        <p:spPr>
          <a:xfrm>
            <a:off x="1023795" y="6163520"/>
            <a:ext cx="29535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</a:t>
            </a:r>
            <a:r>
              <a:rPr lang="en-MY" sz="900" dirty="0" err="1"/>
              <a:t>OchoBits</a:t>
            </a:r>
            <a:endParaRPr lang="en-MY" sz="900" dirty="0"/>
          </a:p>
        </p:txBody>
      </p:sp>
    </p:spTree>
    <p:extLst>
      <p:ext uri="{BB962C8B-B14F-4D97-AF65-F5344CB8AC3E}">
        <p14:creationId xmlns:p14="http://schemas.microsoft.com/office/powerpoint/2010/main" val="358347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A13D-5799-774E-1474-37A44579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88C-0B28-9AB6-FA8D-EA806FCC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EDF8C-D8F9-4407-E5FD-86A0ED0C6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9968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/>
              <a:t>Our brain only uses about 20W</a:t>
            </a:r>
          </a:p>
          <a:p>
            <a:r>
              <a:rPr lang="en-MY" sz="2000" dirty="0"/>
              <a:t>Biological Abstraction – Models use highly abstract version of neurons</a:t>
            </a:r>
          </a:p>
          <a:p>
            <a:r>
              <a:rPr lang="en-MY" sz="2000" dirty="0"/>
              <a:t>Neurons are much more complicated, using temporal spikes to encode information</a:t>
            </a:r>
          </a:p>
          <a:p>
            <a:r>
              <a:rPr lang="en-MY" sz="2000" dirty="0"/>
              <a:t>Von Neumann Bottleneck - GPUs need to fetch data from the VRAM, creating a memory wall</a:t>
            </a:r>
          </a:p>
          <a:p>
            <a:r>
              <a:rPr lang="en-MY" sz="2000" dirty="0"/>
              <a:t>Global Backpropagation – Requires storing complex computational graphs and has no biological basis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3BAE1-6120-175B-75A6-45D8C8B2C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235353" y="292527"/>
            <a:ext cx="1852542" cy="1752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EF80DA-B256-A288-BF25-9C60DC5F68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824" y="4730972"/>
            <a:ext cx="3664164" cy="1832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AA96B8-573C-6243-FADD-7E74FA285A54}"/>
              </a:ext>
            </a:extLst>
          </p:cNvPr>
          <p:cNvSpPr txBox="1"/>
          <p:nvPr/>
        </p:nvSpPr>
        <p:spPr>
          <a:xfrm>
            <a:off x="4044824" y="6563054"/>
            <a:ext cx="3422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</a:t>
            </a:r>
            <a:r>
              <a:rPr lang="en-MY" sz="900" dirty="0" err="1"/>
              <a:t>GeeksforGeeks</a:t>
            </a:r>
            <a:endParaRPr lang="en-MY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41DCC-7352-C9C9-DC98-EED8446333BD}"/>
              </a:ext>
            </a:extLst>
          </p:cNvPr>
          <p:cNvSpPr txBox="1"/>
          <p:nvPr/>
        </p:nvSpPr>
        <p:spPr>
          <a:xfrm>
            <a:off x="9158053" y="2067653"/>
            <a:ext cx="192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Noba Project (CC BY-NC-SA)</a:t>
            </a:r>
          </a:p>
        </p:txBody>
      </p:sp>
    </p:spTree>
    <p:extLst>
      <p:ext uri="{BB962C8B-B14F-4D97-AF65-F5344CB8AC3E}">
        <p14:creationId xmlns:p14="http://schemas.microsoft.com/office/powerpoint/2010/main" val="3178531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C3C2A5-5B1E-91D6-29C9-D53AF78C8123}"/>
              </a:ext>
            </a:extLst>
          </p:cNvPr>
          <p:cNvSpPr/>
          <p:nvPr/>
        </p:nvSpPr>
        <p:spPr>
          <a:xfrm>
            <a:off x="4932218" y="4119417"/>
            <a:ext cx="4211782" cy="20352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68087-8EE5-1532-1A63-4AE98BC6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D4CE-2CAB-5B0D-C066-25136BEB1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8949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/>
              <a:t>Closer to biological neurons, uses spikes instead of a singular value</a:t>
            </a:r>
          </a:p>
          <a:p>
            <a:r>
              <a:rPr lang="en-MY" sz="2000" dirty="0"/>
              <a:t>Information is encoded in the timing of the spikes</a:t>
            </a:r>
          </a:p>
          <a:p>
            <a:r>
              <a:rPr lang="en-MY" sz="2000" dirty="0"/>
              <a:t>Instead of using energy every cycle, energy is dependent on spike activity</a:t>
            </a:r>
          </a:p>
          <a:p>
            <a:r>
              <a:rPr lang="en-MY" sz="2000" dirty="0"/>
              <a:t>Can run much more efficiently on neuromorphic hardware</a:t>
            </a:r>
          </a:p>
          <a:p>
            <a:r>
              <a:rPr lang="en-MY" sz="2000" dirty="0"/>
              <a:t>Problem: </a:t>
            </a:r>
            <a:r>
              <a:rPr lang="en-US" sz="2000" dirty="0"/>
              <a:t>Uses mathematical approximations to fake the smooth curves needed for learning</a:t>
            </a:r>
            <a:endParaRPr lang="en-MY" sz="2000" dirty="0"/>
          </a:p>
          <a:p>
            <a:endParaRPr lang="en-MY" sz="2000" dirty="0"/>
          </a:p>
          <a:p>
            <a:endParaRPr lang="en-M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67BC0-69B3-BA1D-A157-1E10F4701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64879" y="4231532"/>
            <a:ext cx="3597765" cy="1923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75B0E-3449-6E33-60CB-09719C3FF902}"/>
              </a:ext>
            </a:extLst>
          </p:cNvPr>
          <p:cNvSpPr txBox="1"/>
          <p:nvPr/>
        </p:nvSpPr>
        <p:spPr>
          <a:xfrm>
            <a:off x="5164879" y="6132984"/>
            <a:ext cx="39791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Kaizou.org</a:t>
            </a:r>
          </a:p>
        </p:txBody>
      </p:sp>
    </p:spTree>
    <p:extLst>
      <p:ext uri="{BB962C8B-B14F-4D97-AF65-F5344CB8AC3E}">
        <p14:creationId xmlns:p14="http://schemas.microsoft.com/office/powerpoint/2010/main" val="186390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10C7-359D-A01A-3D96-46E212D9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Memristor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0820D-3F39-3BDD-53D4-DB90055D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0990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Unlike other fundamental components, resistance is dependent upon its previous history; hence it has “memory”</a:t>
            </a:r>
          </a:p>
          <a:p>
            <a:r>
              <a:rPr lang="en-MY" sz="2000" dirty="0"/>
              <a:t>G</a:t>
            </a:r>
            <a:r>
              <a:rPr lang="pt-BR" sz="2000" dirty="0"/>
              <a:t>enerates continuous analog voltage trajectories</a:t>
            </a:r>
            <a:endParaRPr lang="en-MY" sz="2000" dirty="0"/>
          </a:p>
          <a:p>
            <a:r>
              <a:rPr lang="en-MY" sz="2000" dirty="0"/>
              <a:t>Because of this it remain differentiable, solving the issue of approximations</a:t>
            </a:r>
          </a:p>
          <a:p>
            <a:r>
              <a:rPr lang="en-MY" sz="2000" dirty="0"/>
              <a:t>Problem: Current memristor implementations use global backpropagation</a:t>
            </a:r>
          </a:p>
          <a:p>
            <a:endParaRPr lang="en-MY" sz="2000" dirty="0"/>
          </a:p>
          <a:p>
            <a:endParaRPr lang="en-MY" sz="20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699EC3-239A-BD43-A7C7-295E0407E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085" y="4100975"/>
            <a:ext cx="2306524" cy="2306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79FC4C-D41B-C871-5884-2DC22A0D4475}"/>
              </a:ext>
            </a:extLst>
          </p:cNvPr>
          <p:cNvSpPr txBox="1"/>
          <p:nvPr/>
        </p:nvSpPr>
        <p:spPr>
          <a:xfrm>
            <a:off x="4060695" y="6271551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Source: Wikimedia (CC BY-SA)</a:t>
            </a:r>
          </a:p>
        </p:txBody>
      </p:sp>
    </p:spTree>
    <p:extLst>
      <p:ext uri="{BB962C8B-B14F-4D97-AF65-F5344CB8AC3E}">
        <p14:creationId xmlns:p14="http://schemas.microsoft.com/office/powerpoint/2010/main" val="301927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09DC-CB3E-CDED-B8A4-AC9E7DA6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</a:t>
            </a:r>
            <a:r>
              <a:rPr lang="en-US" dirty="0" err="1"/>
              <a:t>Memristive</a:t>
            </a:r>
            <a:r>
              <a:rPr lang="en-US" dirty="0"/>
              <a:t> Spiking Neural Networks (MSNN)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1CC2E-1487-06E5-98C4-3BBC207D7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4770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 err="1"/>
              <a:t>Memristive</a:t>
            </a:r>
            <a:r>
              <a:rPr lang="en-MY" sz="2000" dirty="0"/>
              <a:t> Integrate and Fire (MIF)</a:t>
            </a:r>
          </a:p>
          <a:p>
            <a:r>
              <a:rPr lang="en-MY" sz="2000" dirty="0"/>
              <a:t>Parameters voltage (V), </a:t>
            </a:r>
            <a:r>
              <a:rPr lang="en-MY" sz="2000" dirty="0" err="1"/>
              <a:t>memristive</a:t>
            </a:r>
            <a:r>
              <a:rPr lang="en-MY" sz="2000" dirty="0"/>
              <a:t> conductance (G1,G2), capacitance (C) and device resistance (Ron/Roff)</a:t>
            </a:r>
          </a:p>
          <a:p>
            <a:r>
              <a:rPr lang="en-MY" sz="2000" dirty="0"/>
              <a:t>Backpropagation through time (BPTT)</a:t>
            </a:r>
          </a:p>
          <a:p>
            <a:endParaRPr lang="en-MY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B2426-759C-7E6C-58CF-939E333397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129" y="3775156"/>
            <a:ext cx="5031864" cy="25159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675FB2-6919-08BF-5BE7-ECAA81E15833}"/>
              </a:ext>
            </a:extLst>
          </p:cNvPr>
          <p:cNvSpPr txBox="1"/>
          <p:nvPr/>
        </p:nvSpPr>
        <p:spPr>
          <a:xfrm>
            <a:off x="500393" y="6291088"/>
            <a:ext cx="52226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Own Work (Reproduced with permission from X. Shi et al. 2025)</a:t>
            </a:r>
            <a:endParaRPr lang="en-MY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0ABA4B-021D-B595-AE22-FB9F821F9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93" y="4157914"/>
            <a:ext cx="5081331" cy="20904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02353E-9312-C213-76C7-103FA0C5A590}"/>
              </a:ext>
            </a:extLst>
          </p:cNvPr>
          <p:cNvSpPr txBox="1"/>
          <p:nvPr/>
        </p:nvSpPr>
        <p:spPr>
          <a:xfrm>
            <a:off x="6368129" y="6406504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Own Work</a:t>
            </a:r>
            <a:endParaRPr lang="en-MY" sz="900" dirty="0"/>
          </a:p>
        </p:txBody>
      </p:sp>
    </p:spTree>
    <p:extLst>
      <p:ext uri="{BB962C8B-B14F-4D97-AF65-F5344CB8AC3E}">
        <p14:creationId xmlns:p14="http://schemas.microsoft.com/office/powerpoint/2010/main" val="169418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E37E-023B-3727-C98B-2CA8D21F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Forward </a:t>
            </a:r>
            <a:r>
              <a:rPr lang="en-MY" dirty="0" err="1"/>
              <a:t>Forward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C361-9074-6E16-56CF-443C1DDAE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3542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/>
              <a:t>Replaces global backpropagation with 2 forward passes</a:t>
            </a:r>
          </a:p>
          <a:p>
            <a:r>
              <a:rPr lang="en-MY" sz="2000" dirty="0"/>
              <a:t>1 Positive pass and 1 Negative pass</a:t>
            </a:r>
          </a:p>
          <a:p>
            <a:r>
              <a:rPr lang="en-MY" sz="2000" dirty="0"/>
              <a:t>Greedy layer wise learning</a:t>
            </a:r>
          </a:p>
          <a:p>
            <a:r>
              <a:rPr lang="en-MY" sz="2000" dirty="0"/>
              <a:t>Goodness is calculated by the activity of the neurons</a:t>
            </a:r>
          </a:p>
          <a:p>
            <a:r>
              <a:rPr lang="en-MY" sz="2000" dirty="0"/>
              <a:t>Each layer learns by maximising goodness on positive pass and minimising it on negative pass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BAAA2-D07A-8E74-6F30-C8A46DC6F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148" y="4035915"/>
            <a:ext cx="4404670" cy="2437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75BACE-457E-0EFC-9D69-73A9B9770C71}"/>
              </a:ext>
            </a:extLst>
          </p:cNvPr>
          <p:cNvSpPr txBox="1"/>
          <p:nvPr/>
        </p:nvSpPr>
        <p:spPr>
          <a:xfrm>
            <a:off x="5201148" y="6548642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err="1"/>
              <a:t>snnTorch</a:t>
            </a:r>
            <a:r>
              <a:rPr lang="en-US" sz="900" dirty="0"/>
              <a:t> Docs (CC BY 4.0)</a:t>
            </a:r>
            <a:endParaRPr lang="en-MY" sz="900" dirty="0"/>
          </a:p>
        </p:txBody>
      </p:sp>
    </p:spTree>
    <p:extLst>
      <p:ext uri="{BB962C8B-B14F-4D97-AF65-F5344CB8AC3E}">
        <p14:creationId xmlns:p14="http://schemas.microsoft.com/office/powerpoint/2010/main" val="426622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500E-A987-BD09-2725-9C8CBA7E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My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15A6-FE62-2AF6-D717-0106C66E5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3032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/>
              <a:t>Build upon the code that implements memristors</a:t>
            </a:r>
          </a:p>
          <a:p>
            <a:r>
              <a:rPr lang="en-MY" sz="2000" dirty="0"/>
              <a:t>Integrate the forward-forward algorithm into the MIF</a:t>
            </a:r>
          </a:p>
          <a:p>
            <a:r>
              <a:rPr lang="en-MY" sz="2000" dirty="0"/>
              <a:t>Evaluate it with against other models</a:t>
            </a:r>
          </a:p>
        </p:txBody>
      </p:sp>
    </p:spTree>
    <p:extLst>
      <p:ext uri="{BB962C8B-B14F-4D97-AF65-F5344CB8AC3E}">
        <p14:creationId xmlns:p14="http://schemas.microsoft.com/office/powerpoint/2010/main" val="1264217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7BE5-B83A-F50E-66DB-D66F36F4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MSNN Forward </a:t>
            </a:r>
            <a:r>
              <a:rPr lang="en-MY" dirty="0" err="1"/>
              <a:t>Forward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864B9-8E90-BD7D-BA8C-91A10781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170" y="1488613"/>
            <a:ext cx="8596668" cy="3880773"/>
          </a:xfrm>
        </p:spPr>
        <p:txBody>
          <a:bodyPr/>
          <a:lstStyle/>
          <a:p>
            <a:r>
              <a:rPr lang="en-MY" dirty="0"/>
              <a:t>Layers can be saved and checkpointed</a:t>
            </a:r>
          </a:p>
          <a:p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CF148-03D8-1705-D02E-236F6FB3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786" y="2075287"/>
            <a:ext cx="3292125" cy="4122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492237-8210-C5EC-C679-9BCAC0DD5F31}"/>
              </a:ext>
            </a:extLst>
          </p:cNvPr>
          <p:cNvSpPr txBox="1"/>
          <p:nvPr/>
        </p:nvSpPr>
        <p:spPr>
          <a:xfrm>
            <a:off x="1665265" y="6198064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Own Work</a:t>
            </a:r>
            <a:endParaRPr lang="en-MY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FC6D1-7C5E-8523-8EDB-75DBB3AC8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265" y="2079836"/>
            <a:ext cx="2283793" cy="4122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1458B7-707D-887F-DF1E-FE06572D12A0}"/>
              </a:ext>
            </a:extLst>
          </p:cNvPr>
          <p:cNvSpPr txBox="1"/>
          <p:nvPr/>
        </p:nvSpPr>
        <p:spPr>
          <a:xfrm>
            <a:off x="5673786" y="6248399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Own Work</a:t>
            </a:r>
            <a:endParaRPr lang="en-MY" sz="900" dirty="0"/>
          </a:p>
        </p:txBody>
      </p:sp>
    </p:spTree>
    <p:extLst>
      <p:ext uri="{BB962C8B-B14F-4D97-AF65-F5344CB8AC3E}">
        <p14:creationId xmlns:p14="http://schemas.microsoft.com/office/powerpoint/2010/main" val="291622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5049-2025-33E6-529E-194A5BB4C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C7A4CFD-90CF-40F5-8FB0-B3A1047F1566}"/>
              </a:ext>
            </a:extLst>
          </p:cNvPr>
          <p:cNvSpPr/>
          <p:nvPr/>
        </p:nvSpPr>
        <p:spPr>
          <a:xfrm>
            <a:off x="6037771" y="3028070"/>
            <a:ext cx="1169376" cy="23729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Alpha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F8F02-B93D-9DD0-B850-7CAB7749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MSNN Forward </a:t>
            </a:r>
            <a:r>
              <a:rPr lang="en-MY" dirty="0" err="1"/>
              <a:t>Forward</a:t>
            </a:r>
            <a:endParaRPr lang="en-MY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5BD57-0CC0-C4B5-5503-6CC935E89E25}"/>
              </a:ext>
            </a:extLst>
          </p:cNvPr>
          <p:cNvSpPr/>
          <p:nvPr/>
        </p:nvSpPr>
        <p:spPr>
          <a:xfrm>
            <a:off x="593480" y="4167627"/>
            <a:ext cx="1169376" cy="5715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Data (batch)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58F6D81-4B5B-21DE-1915-73DB1FC131E0}"/>
              </a:ext>
            </a:extLst>
          </p:cNvPr>
          <p:cNvSpPr/>
          <p:nvPr/>
        </p:nvSpPr>
        <p:spPr>
          <a:xfrm rot="19793463">
            <a:off x="1855870" y="3513735"/>
            <a:ext cx="1459890" cy="3253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3ED86-555B-8B22-0BBB-E92D8C95D8A7}"/>
              </a:ext>
            </a:extLst>
          </p:cNvPr>
          <p:cNvSpPr/>
          <p:nvPr/>
        </p:nvSpPr>
        <p:spPr>
          <a:xfrm>
            <a:off x="3390810" y="2894300"/>
            <a:ext cx="1169376" cy="571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Pos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454B9-7477-37AE-09B9-7E516FD8D476}"/>
              </a:ext>
            </a:extLst>
          </p:cNvPr>
          <p:cNvSpPr/>
          <p:nvPr/>
        </p:nvSpPr>
        <p:spPr>
          <a:xfrm>
            <a:off x="3409848" y="4829550"/>
            <a:ext cx="1169376" cy="5715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Neg Data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12AEF64-1922-36FC-A614-311783E2C0CC}"/>
              </a:ext>
            </a:extLst>
          </p:cNvPr>
          <p:cNvSpPr/>
          <p:nvPr/>
        </p:nvSpPr>
        <p:spPr>
          <a:xfrm rot="1092053">
            <a:off x="1846444" y="4786474"/>
            <a:ext cx="1497301" cy="3253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AB84C-EFE4-4D39-EE56-B13780876350}"/>
              </a:ext>
            </a:extLst>
          </p:cNvPr>
          <p:cNvSpPr txBox="1"/>
          <p:nvPr/>
        </p:nvSpPr>
        <p:spPr>
          <a:xfrm>
            <a:off x="300692" y="1350840"/>
            <a:ext cx="456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Single batch – Single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D33620-66BC-A341-E5AE-704DAEF51DE1}"/>
              </a:ext>
            </a:extLst>
          </p:cNvPr>
          <p:cNvSpPr/>
          <p:nvPr/>
        </p:nvSpPr>
        <p:spPr>
          <a:xfrm>
            <a:off x="325315" y="1737972"/>
            <a:ext cx="11605847" cy="497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E346B5-BB56-2AB3-9DC7-D224DBEF2FE1}"/>
              </a:ext>
            </a:extLst>
          </p:cNvPr>
          <p:cNvSpPr txBox="1"/>
          <p:nvPr/>
        </p:nvSpPr>
        <p:spPr>
          <a:xfrm>
            <a:off x="1974372" y="4191439"/>
            <a:ext cx="125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Labelling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AF2FC1D-5C08-FDBA-AED8-079DD1576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5" y="3595757"/>
            <a:ext cx="763885" cy="7638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4C8422-93F5-7C5D-B474-28C2E6AD3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5" y="5615179"/>
            <a:ext cx="763885" cy="7638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0F2756-D141-D1C5-4D49-42F43C04A2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4" y="3316237"/>
            <a:ext cx="704152" cy="7041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A87650-A8F0-3F35-E21E-549E06C0ED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601" y="5644025"/>
            <a:ext cx="1429113" cy="571501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2F121D2E-F300-DF17-6D0A-CEFDE253EE9E}"/>
              </a:ext>
            </a:extLst>
          </p:cNvPr>
          <p:cNvSpPr/>
          <p:nvPr/>
        </p:nvSpPr>
        <p:spPr>
          <a:xfrm>
            <a:off x="4741394" y="3028070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7420E12-FDAD-F1AE-701E-9DD7A62168E9}"/>
              </a:ext>
            </a:extLst>
          </p:cNvPr>
          <p:cNvSpPr/>
          <p:nvPr/>
        </p:nvSpPr>
        <p:spPr>
          <a:xfrm>
            <a:off x="4758979" y="4952642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0942153-0B86-338B-4F0F-B40454CA70E3}"/>
              </a:ext>
            </a:extLst>
          </p:cNvPr>
          <p:cNvSpPr/>
          <p:nvPr/>
        </p:nvSpPr>
        <p:spPr>
          <a:xfrm>
            <a:off x="7405940" y="4748909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BC50479-3833-BB3E-B673-34906CEBF38D}"/>
              </a:ext>
            </a:extLst>
          </p:cNvPr>
          <p:cNvSpPr/>
          <p:nvPr/>
        </p:nvSpPr>
        <p:spPr>
          <a:xfrm>
            <a:off x="7439543" y="3383649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32D7DA-CF62-A597-106D-E39B3592FEAA}"/>
              </a:ext>
            </a:extLst>
          </p:cNvPr>
          <p:cNvSpPr txBox="1"/>
          <p:nvPr/>
        </p:nvSpPr>
        <p:spPr>
          <a:xfrm>
            <a:off x="6175291" y="6159539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AA384D-2D4F-2B01-B1B9-C5F3C3BF998C}"/>
              </a:ext>
            </a:extLst>
          </p:cNvPr>
          <p:cNvSpPr/>
          <p:nvPr/>
        </p:nvSpPr>
        <p:spPr>
          <a:xfrm>
            <a:off x="8665694" y="3059850"/>
            <a:ext cx="1169376" cy="23729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Last Layer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AC153D-92FF-EF01-2167-B348ADA892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913" y="5615179"/>
            <a:ext cx="1143001" cy="57150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3DE34A1-3A6E-4CC0-B40F-D6C45C7EC7DB}"/>
              </a:ext>
            </a:extLst>
          </p:cNvPr>
          <p:cNvSpPr txBox="1"/>
          <p:nvPr/>
        </p:nvSpPr>
        <p:spPr>
          <a:xfrm>
            <a:off x="8803214" y="6146166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37" name="Arrow: U-Turn 36">
            <a:extLst>
              <a:ext uri="{FF2B5EF4-FFF2-40B4-BE49-F238E27FC236}">
                <a16:creationId xmlns:a16="http://schemas.microsoft.com/office/drawing/2014/main" id="{5D872D18-FC6F-425F-69E2-5953C1F65E98}"/>
              </a:ext>
            </a:extLst>
          </p:cNvPr>
          <p:cNvSpPr/>
          <p:nvPr/>
        </p:nvSpPr>
        <p:spPr>
          <a:xfrm flipH="1">
            <a:off x="8729913" y="2326535"/>
            <a:ext cx="862143" cy="5715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82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6" name="Arrow: U-Turn 35">
            <a:extLst>
              <a:ext uri="{FF2B5EF4-FFF2-40B4-BE49-F238E27FC236}">
                <a16:creationId xmlns:a16="http://schemas.microsoft.com/office/drawing/2014/main" id="{25675986-14AB-3E63-BAED-28C1A34CBA6C}"/>
              </a:ext>
            </a:extLst>
          </p:cNvPr>
          <p:cNvSpPr/>
          <p:nvPr/>
        </p:nvSpPr>
        <p:spPr>
          <a:xfrm flipH="1">
            <a:off x="8819310" y="2326535"/>
            <a:ext cx="862144" cy="571500"/>
          </a:xfrm>
          <a:prstGeom prst="utur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C7234A4C-DCBC-5E4D-5A88-5DD071B3C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4" y="3316237"/>
            <a:ext cx="704152" cy="70415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8526542-043C-978F-26B8-742431BF4D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4" y="3316237"/>
            <a:ext cx="704152" cy="70415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4846A7E-3D68-5617-5610-46D744056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4" y="3595756"/>
            <a:ext cx="763885" cy="76388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7D556AE-CF91-A0C9-5271-52777660C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4" y="5615178"/>
            <a:ext cx="763885" cy="7638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9F5678A-C54B-537B-59D3-F7E150B327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511" y="5634356"/>
            <a:ext cx="1429113" cy="57150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18F7D8F-EAA3-90AD-21A2-E1D75A37CD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939" y="5624687"/>
            <a:ext cx="1429113" cy="57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6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0.22813 -0.0703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06" y="-35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0.22995 0.21505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97" y="1074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-0.00023 L 0.21276 -0.05555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69" y="-2778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44444E-6 L 0.21589 -0.15209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94" y="-761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44444E-6 L 0.22045 -0.3375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16" y="-16875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44444E-6 L 0.2224 -0.14097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20" y="-706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48148E-6 L -0.65299 0.00139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56" y="69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48148E-6 L -0.65156 0.00301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578" y="139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-0.65807 0.01458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04" y="718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-0.66107 0.00439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60" y="208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0.66432 0.00671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03" y="278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" grpId="0" animBg="1"/>
      <p:bldP spid="5" grpId="0" animBg="1"/>
      <p:bldP spid="7" grpId="0" animBg="1"/>
      <p:bldP spid="8" grpId="0" animBg="1"/>
      <p:bldP spid="10" grpId="0" animBg="1"/>
      <p:bldP spid="14" grpId="0"/>
      <p:bldP spid="24" grpId="0" animBg="1"/>
      <p:bldP spid="25" grpId="0" animBg="1"/>
      <p:bldP spid="26" grpId="0" animBg="1"/>
      <p:bldP spid="27" grpId="0" animBg="1"/>
      <p:bldP spid="28" grpId="0"/>
      <p:bldP spid="28" grpId="1"/>
      <p:bldP spid="29" grpId="0" animBg="1"/>
      <p:bldP spid="33" grpId="0"/>
      <p:bldP spid="33" grpId="1"/>
      <p:bldP spid="37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7436-FC44-C5BF-A4AC-9E28B4810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7B89-6495-0E0C-0AFD-A810E79B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MSNN Forward </a:t>
            </a:r>
            <a:r>
              <a:rPr lang="en-MY" dirty="0" err="1"/>
              <a:t>Forward</a:t>
            </a:r>
            <a:endParaRPr lang="en-MY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82B38-2ADF-5894-0ED2-1B7C07B4F7C8}"/>
              </a:ext>
            </a:extLst>
          </p:cNvPr>
          <p:cNvSpPr txBox="1"/>
          <p:nvPr/>
        </p:nvSpPr>
        <p:spPr>
          <a:xfrm>
            <a:off x="300692" y="1350840"/>
            <a:ext cx="456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Single batch – Single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402D8C-514E-60F4-8F2F-73FCB23DBF26}"/>
              </a:ext>
            </a:extLst>
          </p:cNvPr>
          <p:cNvSpPr/>
          <p:nvPr/>
        </p:nvSpPr>
        <p:spPr>
          <a:xfrm>
            <a:off x="325315" y="1737972"/>
            <a:ext cx="11605847" cy="497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F7FA90-42DD-DC84-20C2-C7327FAF67E0}"/>
              </a:ext>
            </a:extLst>
          </p:cNvPr>
          <p:cNvSpPr/>
          <p:nvPr/>
        </p:nvSpPr>
        <p:spPr>
          <a:xfrm>
            <a:off x="635019" y="3148182"/>
            <a:ext cx="1169376" cy="23729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Last Layer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FAD2756-2678-CAC1-8E9C-A72DF25584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19" y="5638906"/>
            <a:ext cx="1143001" cy="57150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C997718-3F26-B5AE-681F-CEBE7F0B13CE}"/>
              </a:ext>
            </a:extLst>
          </p:cNvPr>
          <p:cNvSpPr txBox="1"/>
          <p:nvPr/>
        </p:nvSpPr>
        <p:spPr>
          <a:xfrm>
            <a:off x="679934" y="6191357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37" name="Arrow: U-Turn 36">
            <a:extLst>
              <a:ext uri="{FF2B5EF4-FFF2-40B4-BE49-F238E27FC236}">
                <a16:creationId xmlns:a16="http://schemas.microsoft.com/office/drawing/2014/main" id="{5317811A-BF61-3BD0-42CB-CD140AE5AF35}"/>
              </a:ext>
            </a:extLst>
          </p:cNvPr>
          <p:cNvSpPr/>
          <p:nvPr/>
        </p:nvSpPr>
        <p:spPr>
          <a:xfrm flipH="1">
            <a:off x="748803" y="2343554"/>
            <a:ext cx="862143" cy="5715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82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6" name="Arrow: U-Turn 35">
            <a:extLst>
              <a:ext uri="{FF2B5EF4-FFF2-40B4-BE49-F238E27FC236}">
                <a16:creationId xmlns:a16="http://schemas.microsoft.com/office/drawing/2014/main" id="{9957694D-13E3-BE1A-3C18-B634228B5E56}"/>
              </a:ext>
            </a:extLst>
          </p:cNvPr>
          <p:cNvSpPr/>
          <p:nvPr/>
        </p:nvSpPr>
        <p:spPr>
          <a:xfrm flipH="1">
            <a:off x="809767" y="2316117"/>
            <a:ext cx="862144" cy="571500"/>
          </a:xfrm>
          <a:prstGeom prst="utur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A54F965-84CC-65C1-95E1-98F84BA44198}"/>
                  </a:ext>
                </a:extLst>
              </p:cNvPr>
              <p:cNvSpPr txBox="1"/>
              <p:nvPr/>
            </p:nvSpPr>
            <p:spPr>
              <a:xfrm>
                <a:off x="4624494" y="4085301"/>
                <a:ext cx="4877793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MY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𝑆𝑜𝑓𝑡𝑝𝑙𝑢𝑠</m:t>
                      </m:r>
                      <m:d>
                        <m:dPr>
                          <m:ctrlP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MY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M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M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M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  <m:r>
                                    <a:rPr lang="en-MY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sub>
                              </m:sSub>
                              <m:r>
                                <a:rPr lang="en-MY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M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M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𝑛𝑒𝑔</m:t>
                                  </m:r>
                                </m:sub>
                              </m:sSub>
                              <m:r>
                                <a:rPr lang="en-MY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MY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A54F965-84CC-65C1-95E1-98F84BA44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494" y="4085301"/>
                <a:ext cx="4877793" cy="5068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796485-C0AE-0F7C-2D41-48719EFB961A}"/>
                  </a:ext>
                </a:extLst>
              </p:cNvPr>
              <p:cNvSpPr txBox="1"/>
              <p:nvPr/>
            </p:nvSpPr>
            <p:spPr>
              <a:xfrm>
                <a:off x="4397115" y="2676403"/>
                <a:ext cx="2933998" cy="659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MY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MY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M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d>
                            <m:dPr>
                              <m:ctrlPr>
                                <a:rPr lang="en-M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sSup>
                                <m:sSupPr>
                                  <m:ctrlPr>
                                    <a:rPr lang="en-M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M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M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MY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MY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M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796485-C0AE-0F7C-2D41-48719EFB9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115" y="2676403"/>
                <a:ext cx="2933998" cy="659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F21B83-BC85-7121-3BD5-FB422EE6A89E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1804395" y="2676403"/>
            <a:ext cx="2592720" cy="329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8BD9D3-FBE5-F006-4918-16EE194CC617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1833147" y="2788739"/>
            <a:ext cx="2791347" cy="1549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18361B-66FA-802A-C192-B16AE54F653D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804395" y="4334672"/>
            <a:ext cx="2442290" cy="1233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2D5DDE5-31F7-3CDE-72E7-59F53FF886B9}"/>
              </a:ext>
            </a:extLst>
          </p:cNvPr>
          <p:cNvSpPr txBox="1"/>
          <p:nvPr/>
        </p:nvSpPr>
        <p:spPr>
          <a:xfrm>
            <a:off x="4286249" y="5454240"/>
            <a:ext cx="3683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Save Layer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5037B4B-4F92-3893-26C8-7063CD2CF9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085" y="3180819"/>
            <a:ext cx="1013737" cy="50686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3D04EB4-84A5-CC6C-8BC7-6F4E237DF6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625" y="2565959"/>
            <a:ext cx="1013737" cy="50686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0210C1C-C48C-8308-D436-737F62DAEE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938" y="2504956"/>
            <a:ext cx="1013737" cy="5068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E2B031D-5FA1-103D-4419-AF8A1EB583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403" y="3082187"/>
            <a:ext cx="1013737" cy="50686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D1B8997-F5FE-DDE9-9FF5-96873D197B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873" y="3429000"/>
            <a:ext cx="1013737" cy="50686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5360FDB-A3C8-45A0-DEA5-355E8C1CD5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339" y="2871032"/>
            <a:ext cx="1013737" cy="50686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D6493FA-EC6A-475B-F852-51CF62D0E6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339" y="2316117"/>
            <a:ext cx="1013737" cy="50686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F624A12-0A0B-114D-D579-FA1F3721A5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809" y="3465584"/>
            <a:ext cx="1013737" cy="50686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3F50492-07BD-D0A5-5EEF-0EF953558A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212" y="2887617"/>
            <a:ext cx="1013737" cy="50686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1EA7887C-D5A0-029F-FA39-D8D49F9283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212" y="2291233"/>
            <a:ext cx="1013737" cy="50686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3A5F45E-5CF6-65F4-18AE-F66B067436F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875" y="4185330"/>
            <a:ext cx="1434148" cy="109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4" grpId="1"/>
      <p:bldP spid="56" grpId="0"/>
      <p:bldP spid="56" grpId="1"/>
      <p:bldP spid="50" grpId="0"/>
      <p:bldP spid="5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5F14F-9E9B-CDBC-11C8-072F9423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6A3004E-985A-B1EA-1A00-DFA338077E33}"/>
              </a:ext>
            </a:extLst>
          </p:cNvPr>
          <p:cNvSpPr/>
          <p:nvPr/>
        </p:nvSpPr>
        <p:spPr>
          <a:xfrm>
            <a:off x="635019" y="3148436"/>
            <a:ext cx="1169376" cy="237298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  <a:p>
            <a:pPr algn="ctr"/>
            <a:r>
              <a:rPr lang="en-MY" dirty="0">
                <a:solidFill>
                  <a:schemeClr val="tx1"/>
                </a:solidFill>
              </a:rPr>
              <a:t>Loaded Layer1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D6C47F-777D-5EC6-3742-5694090AE3A2}"/>
              </a:ext>
            </a:extLst>
          </p:cNvPr>
          <p:cNvSpPr/>
          <p:nvPr/>
        </p:nvSpPr>
        <p:spPr>
          <a:xfrm>
            <a:off x="635019" y="3146648"/>
            <a:ext cx="1169376" cy="23729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Last Layer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0184E-5143-F09E-2C7F-7C519C0F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MSNN Forward </a:t>
            </a:r>
            <a:r>
              <a:rPr lang="en-MY" dirty="0" err="1"/>
              <a:t>Forward</a:t>
            </a:r>
            <a:endParaRPr lang="en-MY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0B96D-5757-6130-FBFC-9E2DB85654FF}"/>
              </a:ext>
            </a:extLst>
          </p:cNvPr>
          <p:cNvSpPr txBox="1"/>
          <p:nvPr/>
        </p:nvSpPr>
        <p:spPr>
          <a:xfrm>
            <a:off x="300692" y="1350840"/>
            <a:ext cx="456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Single batch – Multi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A8900D-DB61-F119-0806-3D6ED693499D}"/>
              </a:ext>
            </a:extLst>
          </p:cNvPr>
          <p:cNvSpPr/>
          <p:nvPr/>
        </p:nvSpPr>
        <p:spPr>
          <a:xfrm>
            <a:off x="325315" y="1737972"/>
            <a:ext cx="11605847" cy="497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FAED0C-3FB1-36BD-1026-3E3F673745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19" y="5638906"/>
            <a:ext cx="1143001" cy="5715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A7F8A28-0C12-9BA0-3C16-C42281000B19}"/>
              </a:ext>
            </a:extLst>
          </p:cNvPr>
          <p:cNvSpPr txBox="1"/>
          <p:nvPr/>
        </p:nvSpPr>
        <p:spPr>
          <a:xfrm>
            <a:off x="4318590" y="5207846"/>
            <a:ext cx="142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……………….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04E171-DD60-804A-D8B7-2BA57998985A}"/>
              </a:ext>
            </a:extLst>
          </p:cNvPr>
          <p:cNvSpPr txBox="1"/>
          <p:nvPr/>
        </p:nvSpPr>
        <p:spPr>
          <a:xfrm>
            <a:off x="679934" y="6191357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A2078578-D5CE-28B4-7BEB-2E9504848ADF}"/>
              </a:ext>
            </a:extLst>
          </p:cNvPr>
          <p:cNvSpPr/>
          <p:nvPr/>
        </p:nvSpPr>
        <p:spPr>
          <a:xfrm>
            <a:off x="1918353" y="4875780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AEB2A31-9812-5261-C72C-286C4248987A}"/>
              </a:ext>
            </a:extLst>
          </p:cNvPr>
          <p:cNvSpPr/>
          <p:nvPr/>
        </p:nvSpPr>
        <p:spPr>
          <a:xfrm>
            <a:off x="1916690" y="3426426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6AC5FF-53B3-EDDE-0989-56DF4DBBD6E9}"/>
              </a:ext>
            </a:extLst>
          </p:cNvPr>
          <p:cNvSpPr/>
          <p:nvPr/>
        </p:nvSpPr>
        <p:spPr>
          <a:xfrm>
            <a:off x="3149214" y="3102627"/>
            <a:ext cx="1169376" cy="237298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Loaded Layer 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F68DC42-7CF5-020D-6D35-92FA22AF72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812" y="5657956"/>
            <a:ext cx="1143001" cy="57150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C34BCC3-586F-95DE-6961-F7366A7AC3BA}"/>
              </a:ext>
            </a:extLst>
          </p:cNvPr>
          <p:cNvSpPr txBox="1"/>
          <p:nvPr/>
        </p:nvSpPr>
        <p:spPr>
          <a:xfrm>
            <a:off x="3214727" y="6229457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C57B27A-937D-1B7A-C50F-24198C860B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067" y="5679584"/>
            <a:ext cx="1143001" cy="57150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F029807-8170-B85E-38E2-E1B590963F0B}"/>
              </a:ext>
            </a:extLst>
          </p:cNvPr>
          <p:cNvSpPr txBox="1"/>
          <p:nvPr/>
        </p:nvSpPr>
        <p:spPr>
          <a:xfrm>
            <a:off x="5905212" y="6248489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DC7A098-F4E3-8130-63D0-58401582E7F6}"/>
              </a:ext>
            </a:extLst>
          </p:cNvPr>
          <p:cNvSpPr/>
          <p:nvPr/>
        </p:nvSpPr>
        <p:spPr>
          <a:xfrm>
            <a:off x="4475642" y="4875780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6CD13F6-78CD-9574-41E5-1C826AED5352}"/>
              </a:ext>
            </a:extLst>
          </p:cNvPr>
          <p:cNvSpPr/>
          <p:nvPr/>
        </p:nvSpPr>
        <p:spPr>
          <a:xfrm>
            <a:off x="4473979" y="3426426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5317811A-BF61-3BD0-42CB-CD140AE5AF35}"/>
              </a:ext>
            </a:extLst>
          </p:cNvPr>
          <p:cNvSpPr/>
          <p:nvPr/>
        </p:nvSpPr>
        <p:spPr>
          <a:xfrm flipH="1">
            <a:off x="748803" y="2343554"/>
            <a:ext cx="862143" cy="5715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82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9957694D-13E3-BE1A-3C18-B634228B5E56}"/>
              </a:ext>
            </a:extLst>
          </p:cNvPr>
          <p:cNvSpPr/>
          <p:nvPr/>
        </p:nvSpPr>
        <p:spPr>
          <a:xfrm flipH="1">
            <a:off x="809767" y="2316117"/>
            <a:ext cx="862144" cy="571500"/>
          </a:xfrm>
          <a:prstGeom prst="utur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19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.42279 -0.00532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33" y="-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33333E-6 L 0.42631 -0.00139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15" y="-6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0.42735 0.00254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6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1" grpId="0"/>
      <p:bldP spid="34" grpId="0" animBg="1"/>
      <p:bldP spid="35" grpId="0" animBg="1"/>
      <p:bldP spid="40" grpId="0" animBg="1"/>
      <p:bldP spid="47" grpId="0"/>
      <p:bldP spid="49" grpId="0"/>
      <p:bldP spid="7" grpId="0" animBg="1"/>
      <p:bldP spid="8" grpId="0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F9A4B-E257-DB63-990B-714CD472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4784E3A-A418-6C4E-15EE-F1EA5AC3AC33}"/>
              </a:ext>
            </a:extLst>
          </p:cNvPr>
          <p:cNvSpPr/>
          <p:nvPr/>
        </p:nvSpPr>
        <p:spPr>
          <a:xfrm>
            <a:off x="6037771" y="3028070"/>
            <a:ext cx="1169376" cy="23729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Alpha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C6736A-BD94-92DA-88EC-1DB5FB8A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MSNN Forward </a:t>
            </a:r>
            <a:r>
              <a:rPr lang="en-MY" dirty="0" err="1"/>
              <a:t>Forward</a:t>
            </a:r>
            <a:endParaRPr lang="en-MY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DB521-C044-6085-E7AE-1A2B6F4EA148}"/>
              </a:ext>
            </a:extLst>
          </p:cNvPr>
          <p:cNvSpPr/>
          <p:nvPr/>
        </p:nvSpPr>
        <p:spPr>
          <a:xfrm>
            <a:off x="593480" y="4167627"/>
            <a:ext cx="1169376" cy="5715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Data (batch)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886951D-AE54-000E-FEBE-1A0CE7B219DF}"/>
              </a:ext>
            </a:extLst>
          </p:cNvPr>
          <p:cNvSpPr/>
          <p:nvPr/>
        </p:nvSpPr>
        <p:spPr>
          <a:xfrm rot="19793463">
            <a:off x="1855870" y="3513735"/>
            <a:ext cx="1459890" cy="3253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25D4D-457D-D483-9D29-BB89CBEDD6E5}"/>
              </a:ext>
            </a:extLst>
          </p:cNvPr>
          <p:cNvSpPr/>
          <p:nvPr/>
        </p:nvSpPr>
        <p:spPr>
          <a:xfrm>
            <a:off x="3390810" y="2894300"/>
            <a:ext cx="1169376" cy="571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Pos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A7B1A4-C722-1F7B-D0B9-C008CB88083B}"/>
              </a:ext>
            </a:extLst>
          </p:cNvPr>
          <p:cNvSpPr/>
          <p:nvPr/>
        </p:nvSpPr>
        <p:spPr>
          <a:xfrm>
            <a:off x="3409848" y="4829550"/>
            <a:ext cx="1169376" cy="5715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Neg Data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1C8010-4974-A947-B9D6-97372C4DE582}"/>
              </a:ext>
            </a:extLst>
          </p:cNvPr>
          <p:cNvSpPr/>
          <p:nvPr/>
        </p:nvSpPr>
        <p:spPr>
          <a:xfrm rot="1092053">
            <a:off x="1846444" y="4786474"/>
            <a:ext cx="1497301" cy="3253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9FC2AA-1BBF-1B5F-5972-BBF260F38327}"/>
              </a:ext>
            </a:extLst>
          </p:cNvPr>
          <p:cNvSpPr txBox="1"/>
          <p:nvPr/>
        </p:nvSpPr>
        <p:spPr>
          <a:xfrm>
            <a:off x="300692" y="1350840"/>
            <a:ext cx="456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Single batch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EE04F-D086-97E0-6751-2B7180E82CEA}"/>
              </a:ext>
            </a:extLst>
          </p:cNvPr>
          <p:cNvSpPr/>
          <p:nvPr/>
        </p:nvSpPr>
        <p:spPr>
          <a:xfrm>
            <a:off x="325315" y="1737972"/>
            <a:ext cx="11605847" cy="497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577AE7-E88A-E0C4-C83D-D4E2AF72EABC}"/>
              </a:ext>
            </a:extLst>
          </p:cNvPr>
          <p:cNvSpPr txBox="1"/>
          <p:nvPr/>
        </p:nvSpPr>
        <p:spPr>
          <a:xfrm>
            <a:off x="1974372" y="4191439"/>
            <a:ext cx="125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Labelling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B365A9-759B-67EE-A57E-AE0511019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5" y="3595757"/>
            <a:ext cx="763885" cy="7638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C6E645-8CC1-9EB8-9BED-515E7721C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5" y="5615179"/>
            <a:ext cx="763885" cy="7638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1EF982-25B7-9E83-6E8D-8E206460C3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4" y="3316237"/>
            <a:ext cx="704152" cy="7041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800707-B15D-5DCD-4D52-12E4F48DF3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601" y="5644025"/>
            <a:ext cx="1429113" cy="571501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5A57A9B7-1511-D4C3-62A8-25966F04792E}"/>
              </a:ext>
            </a:extLst>
          </p:cNvPr>
          <p:cNvSpPr/>
          <p:nvPr/>
        </p:nvSpPr>
        <p:spPr>
          <a:xfrm>
            <a:off x="4741394" y="3028070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F669C66-7871-BD39-A79B-3E678969F552}"/>
              </a:ext>
            </a:extLst>
          </p:cNvPr>
          <p:cNvSpPr/>
          <p:nvPr/>
        </p:nvSpPr>
        <p:spPr>
          <a:xfrm>
            <a:off x="4758979" y="4952642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800AD0F-0604-FB5C-623E-E4B47A142E56}"/>
              </a:ext>
            </a:extLst>
          </p:cNvPr>
          <p:cNvSpPr/>
          <p:nvPr/>
        </p:nvSpPr>
        <p:spPr>
          <a:xfrm>
            <a:off x="7405940" y="4748909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B41FACC-C755-5349-0EA6-F5DFFAD87B8F}"/>
              </a:ext>
            </a:extLst>
          </p:cNvPr>
          <p:cNvSpPr/>
          <p:nvPr/>
        </p:nvSpPr>
        <p:spPr>
          <a:xfrm>
            <a:off x="7439543" y="3383649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CBABA6-97EB-453E-21F2-907DCE192519}"/>
              </a:ext>
            </a:extLst>
          </p:cNvPr>
          <p:cNvSpPr txBox="1"/>
          <p:nvPr/>
        </p:nvSpPr>
        <p:spPr>
          <a:xfrm>
            <a:off x="6175291" y="6159539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32D025-30B4-57AB-2510-9EECCD01B321}"/>
              </a:ext>
            </a:extLst>
          </p:cNvPr>
          <p:cNvSpPr/>
          <p:nvPr/>
        </p:nvSpPr>
        <p:spPr>
          <a:xfrm>
            <a:off x="8665694" y="3059850"/>
            <a:ext cx="3038626" cy="23729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All Layers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5134419-A198-8142-5FE1-0030891912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4" y="3316237"/>
            <a:ext cx="704152" cy="70415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847BF7D-CEA8-7015-11D5-F9A05C331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54" y="3316237"/>
            <a:ext cx="704152" cy="70415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C9D1C39-26C9-B189-3B4F-93E8EFF64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4" y="3595756"/>
            <a:ext cx="763885" cy="76388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1B85502-2871-DD43-1824-8CD835548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54" y="5615178"/>
            <a:ext cx="763885" cy="7638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C28C8AD-BB4A-5326-6B58-2CC3318BFD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511" y="5634356"/>
            <a:ext cx="1429113" cy="57150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8137674-A8C4-C3D5-B46E-BE51CC92D1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939" y="5624687"/>
            <a:ext cx="1429113" cy="5715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1CB7D0-AA49-EE90-C3CA-E5489B2F979E}"/>
              </a:ext>
            </a:extLst>
          </p:cNvPr>
          <p:cNvSpPr/>
          <p:nvPr/>
        </p:nvSpPr>
        <p:spPr>
          <a:xfrm>
            <a:off x="3875435" y="2472300"/>
            <a:ext cx="4060985" cy="317137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Single batch learn process</a:t>
            </a:r>
          </a:p>
        </p:txBody>
      </p:sp>
    </p:spTree>
    <p:extLst>
      <p:ext uri="{BB962C8B-B14F-4D97-AF65-F5344CB8AC3E}">
        <p14:creationId xmlns:p14="http://schemas.microsoft.com/office/powerpoint/2010/main" val="392550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/>
      <p:bldP spid="12" grpId="0" animBg="1"/>
      <p:bldP spid="14" grpId="0"/>
      <p:bldP spid="24" grpId="0" animBg="1"/>
      <p:bldP spid="25" grpId="0" animBg="1"/>
      <p:bldP spid="26" grpId="0" animBg="1"/>
      <p:bldP spid="27" grpId="0" animBg="1"/>
      <p:bldP spid="28" grpId="0"/>
      <p:bldP spid="29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5B7F-87FC-03EF-25BD-A9A039A9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B4BB-8A1C-A73A-456A-DC252505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MSNN Forward </a:t>
            </a:r>
            <a:r>
              <a:rPr lang="en-MY" dirty="0" err="1"/>
              <a:t>Forward</a:t>
            </a:r>
            <a:endParaRPr lang="en-MY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C33547-7C7A-C995-E11A-A479415475C3}"/>
              </a:ext>
            </a:extLst>
          </p:cNvPr>
          <p:cNvSpPr/>
          <p:nvPr/>
        </p:nvSpPr>
        <p:spPr>
          <a:xfrm>
            <a:off x="3875435" y="2472300"/>
            <a:ext cx="4060985" cy="317137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Single batch learn 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8D5E04-5998-B537-1E8A-102B5A70E91C}"/>
              </a:ext>
            </a:extLst>
          </p:cNvPr>
          <p:cNvSpPr/>
          <p:nvPr/>
        </p:nvSpPr>
        <p:spPr>
          <a:xfrm>
            <a:off x="1737360" y="2148841"/>
            <a:ext cx="8842248" cy="43440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B04BED68-E955-1B75-50CD-9AA2038C6AD9}"/>
              </a:ext>
            </a:extLst>
          </p:cNvPr>
          <p:cNvSpPr/>
          <p:nvPr/>
        </p:nvSpPr>
        <p:spPr>
          <a:xfrm flipH="1">
            <a:off x="5664928" y="1526593"/>
            <a:ext cx="862144" cy="571500"/>
          </a:xfrm>
          <a:prstGeom prst="utur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13875-5866-0D47-2E5B-CA88CD283741}"/>
              </a:ext>
            </a:extLst>
          </p:cNvPr>
          <p:cNvSpPr txBox="1"/>
          <p:nvPr/>
        </p:nvSpPr>
        <p:spPr>
          <a:xfrm>
            <a:off x="6527072" y="1644815"/>
            <a:ext cx="2267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Number of epochs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712391-A0D5-C0AD-86A9-36D63FB33A8E}"/>
              </a:ext>
            </a:extLst>
          </p:cNvPr>
          <p:cNvSpPr/>
          <p:nvPr/>
        </p:nvSpPr>
        <p:spPr>
          <a:xfrm>
            <a:off x="1927190" y="3566160"/>
            <a:ext cx="1421929" cy="81453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626A1C2-B8AA-29C3-B09A-4FE660D5E1CC}"/>
              </a:ext>
            </a:extLst>
          </p:cNvPr>
          <p:cNvSpPr/>
          <p:nvPr/>
        </p:nvSpPr>
        <p:spPr>
          <a:xfrm>
            <a:off x="3332647" y="3845409"/>
            <a:ext cx="519587" cy="2560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DCA242-0426-BF20-7C7B-3D22A11E9FC6}"/>
              </a:ext>
            </a:extLst>
          </p:cNvPr>
          <p:cNvSpPr/>
          <p:nvPr/>
        </p:nvSpPr>
        <p:spPr>
          <a:xfrm>
            <a:off x="4004634" y="2795759"/>
            <a:ext cx="4060985" cy="317137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Single batch learn process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8CF9652-64DF-991A-3229-09478AA17E23}"/>
              </a:ext>
            </a:extLst>
          </p:cNvPr>
          <p:cNvSpPr/>
          <p:nvPr/>
        </p:nvSpPr>
        <p:spPr>
          <a:xfrm rot="515857">
            <a:off x="3366772" y="4102145"/>
            <a:ext cx="622134" cy="28292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075C89-7E1A-8C8C-F328-594BD6662019}"/>
              </a:ext>
            </a:extLst>
          </p:cNvPr>
          <p:cNvSpPr/>
          <p:nvPr/>
        </p:nvSpPr>
        <p:spPr>
          <a:xfrm>
            <a:off x="4181064" y="3058627"/>
            <a:ext cx="4060985" cy="317137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Single batch learn process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80EFA73A-0E20-A744-47DF-31939336D08E}"/>
              </a:ext>
            </a:extLst>
          </p:cNvPr>
          <p:cNvSpPr/>
          <p:nvPr/>
        </p:nvSpPr>
        <p:spPr>
          <a:xfrm rot="925042">
            <a:off x="3337895" y="4474124"/>
            <a:ext cx="743787" cy="301951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811E1F-7FC6-5CDB-9C1F-6664C714C3FF}"/>
              </a:ext>
            </a:extLst>
          </p:cNvPr>
          <p:cNvSpPr txBox="1"/>
          <p:nvPr/>
        </p:nvSpPr>
        <p:spPr>
          <a:xfrm>
            <a:off x="2515948" y="4659938"/>
            <a:ext cx="133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Until all samples learned</a:t>
            </a:r>
          </a:p>
        </p:txBody>
      </p:sp>
    </p:spTree>
    <p:extLst>
      <p:ext uri="{BB962C8B-B14F-4D97-AF65-F5344CB8AC3E}">
        <p14:creationId xmlns:p14="http://schemas.microsoft.com/office/powerpoint/2010/main" val="155272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5" grpId="0"/>
      <p:bldP spid="18" grpId="0" animBg="1"/>
      <p:bldP spid="22" grpId="0" animBg="1"/>
      <p:bldP spid="33" grpId="0" animBg="1"/>
      <p:bldP spid="34" grpId="0" animBg="1"/>
      <p:bldP spid="35" grpId="0" animBg="1"/>
      <p:bldP spid="36" grpId="0" animBg="1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6EEB-C428-08C9-782A-0F53107A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A442-E062-0F2E-6BEE-EC5FF7AB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MSNN Forward Forward</a:t>
            </a:r>
            <a:endParaRPr lang="en-MY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E28B79-D3E4-17A5-8EE8-731486574E8A}"/>
              </a:ext>
            </a:extLst>
          </p:cNvPr>
          <p:cNvSpPr txBox="1"/>
          <p:nvPr/>
        </p:nvSpPr>
        <p:spPr>
          <a:xfrm>
            <a:off x="300692" y="1350840"/>
            <a:ext cx="456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Inference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3D5672-71B1-958F-451A-41EBB88A2010}"/>
              </a:ext>
            </a:extLst>
          </p:cNvPr>
          <p:cNvSpPr/>
          <p:nvPr/>
        </p:nvSpPr>
        <p:spPr>
          <a:xfrm>
            <a:off x="325315" y="1737972"/>
            <a:ext cx="11605847" cy="4974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5B5AEB-1E2D-0759-1300-98F454EC3665}"/>
              </a:ext>
            </a:extLst>
          </p:cNvPr>
          <p:cNvSpPr/>
          <p:nvPr/>
        </p:nvSpPr>
        <p:spPr>
          <a:xfrm>
            <a:off x="635019" y="3152246"/>
            <a:ext cx="1169376" cy="237298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Layer1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AE4ED8F-EDB9-9CA5-45E0-7742DE0988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19" y="5638906"/>
            <a:ext cx="1143001" cy="5715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0F9FC3C-EA17-98E1-E271-DE2C4C306A46}"/>
              </a:ext>
            </a:extLst>
          </p:cNvPr>
          <p:cNvSpPr txBox="1"/>
          <p:nvPr/>
        </p:nvSpPr>
        <p:spPr>
          <a:xfrm>
            <a:off x="4318590" y="5207846"/>
            <a:ext cx="142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……………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215465-3DAB-DE45-252E-CE429B326D52}"/>
              </a:ext>
            </a:extLst>
          </p:cNvPr>
          <p:cNvSpPr/>
          <p:nvPr/>
        </p:nvSpPr>
        <p:spPr>
          <a:xfrm>
            <a:off x="5798172" y="3122947"/>
            <a:ext cx="1169376" cy="23729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Last Layer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704DEF-FA44-6F06-486C-C487076F5F8D}"/>
              </a:ext>
            </a:extLst>
          </p:cNvPr>
          <p:cNvSpPr txBox="1"/>
          <p:nvPr/>
        </p:nvSpPr>
        <p:spPr>
          <a:xfrm>
            <a:off x="679934" y="6191357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F2D875D-1DFE-6A3E-5BB3-26A4A4E6BF7B}"/>
              </a:ext>
            </a:extLst>
          </p:cNvPr>
          <p:cNvSpPr/>
          <p:nvPr/>
        </p:nvSpPr>
        <p:spPr>
          <a:xfrm>
            <a:off x="1918353" y="4875780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2F587DA-B669-C211-2F79-34D913097A09}"/>
              </a:ext>
            </a:extLst>
          </p:cNvPr>
          <p:cNvSpPr/>
          <p:nvPr/>
        </p:nvSpPr>
        <p:spPr>
          <a:xfrm>
            <a:off x="1916690" y="3426426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47E1C7-0236-2AD9-7DB1-8270A856580B}"/>
              </a:ext>
            </a:extLst>
          </p:cNvPr>
          <p:cNvSpPr/>
          <p:nvPr/>
        </p:nvSpPr>
        <p:spPr>
          <a:xfrm>
            <a:off x="3149214" y="3102627"/>
            <a:ext cx="1169376" cy="237298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Next Layer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6301A37-320A-B387-67CA-13B27C2D7D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812" y="5657956"/>
            <a:ext cx="1143001" cy="57150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72C41D2-BAC0-96DB-B87F-AC91CE862A26}"/>
              </a:ext>
            </a:extLst>
          </p:cNvPr>
          <p:cNvSpPr txBox="1"/>
          <p:nvPr/>
        </p:nvSpPr>
        <p:spPr>
          <a:xfrm>
            <a:off x="3214727" y="6229457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F1F841B-4F41-9C60-E1CF-00BD186CE9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067" y="5679584"/>
            <a:ext cx="1143001" cy="57150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F2C84CC-2360-C800-522F-251467A74FF2}"/>
              </a:ext>
            </a:extLst>
          </p:cNvPr>
          <p:cNvSpPr txBox="1"/>
          <p:nvPr/>
        </p:nvSpPr>
        <p:spPr>
          <a:xfrm>
            <a:off x="5905212" y="6248489"/>
            <a:ext cx="103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x pixels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76147-DC2A-03C7-38BD-951E1078C50D}"/>
              </a:ext>
            </a:extLst>
          </p:cNvPr>
          <p:cNvSpPr txBox="1"/>
          <p:nvPr/>
        </p:nvSpPr>
        <p:spPr>
          <a:xfrm>
            <a:off x="506252" y="1860542"/>
            <a:ext cx="2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Positive Goodness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35C3E-168E-BC5E-D36B-A2437B3C3921}"/>
              </a:ext>
            </a:extLst>
          </p:cNvPr>
          <p:cNvSpPr txBox="1"/>
          <p:nvPr/>
        </p:nvSpPr>
        <p:spPr>
          <a:xfrm>
            <a:off x="2904439" y="1860542"/>
            <a:ext cx="2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Positive Goodness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F952C-35B8-70D7-B3B0-2F28E4994045}"/>
              </a:ext>
            </a:extLst>
          </p:cNvPr>
          <p:cNvSpPr txBox="1"/>
          <p:nvPr/>
        </p:nvSpPr>
        <p:spPr>
          <a:xfrm>
            <a:off x="5486065" y="1860541"/>
            <a:ext cx="2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Positive Goodness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D7BDD-32EB-3D6C-263B-2E7EA5247A95}"/>
              </a:ext>
            </a:extLst>
          </p:cNvPr>
          <p:cNvSpPr/>
          <p:nvPr/>
        </p:nvSpPr>
        <p:spPr>
          <a:xfrm>
            <a:off x="635019" y="3152246"/>
            <a:ext cx="1169376" cy="237298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Layer1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5053C-8DEB-F044-9530-4A3402E6C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527" y="2610845"/>
            <a:ext cx="763885" cy="763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A9E6D1-D38B-6387-2122-3BEA3DAA72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897" y="4661446"/>
            <a:ext cx="763885" cy="7638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150E5F-0F18-108B-AB1C-BD152EE7B81C}"/>
              </a:ext>
            </a:extLst>
          </p:cNvPr>
          <p:cNvSpPr txBox="1"/>
          <p:nvPr/>
        </p:nvSpPr>
        <p:spPr>
          <a:xfrm>
            <a:off x="9084024" y="2808122"/>
            <a:ext cx="2589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Positive goodness sum = </a:t>
            </a:r>
          </a:p>
          <a:p>
            <a:r>
              <a:rPr lang="en-MY" dirty="0"/>
              <a:t>500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58979-EE6E-B30F-5A5D-F8966B464417}"/>
              </a:ext>
            </a:extLst>
          </p:cNvPr>
          <p:cNvSpPr txBox="1"/>
          <p:nvPr/>
        </p:nvSpPr>
        <p:spPr>
          <a:xfrm>
            <a:off x="8099354" y="2229874"/>
            <a:ext cx="1995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Correct Sample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0EAC2-893B-41B5-AD8B-845168D84302}"/>
              </a:ext>
            </a:extLst>
          </p:cNvPr>
          <p:cNvSpPr txBox="1"/>
          <p:nvPr/>
        </p:nvSpPr>
        <p:spPr>
          <a:xfrm>
            <a:off x="8099354" y="4225010"/>
            <a:ext cx="2196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Wrong Sample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FF00D-6228-3A44-F226-76F62A7593CD}"/>
              </a:ext>
            </a:extLst>
          </p:cNvPr>
          <p:cNvSpPr txBox="1"/>
          <p:nvPr/>
        </p:nvSpPr>
        <p:spPr>
          <a:xfrm>
            <a:off x="9084023" y="4712123"/>
            <a:ext cx="2589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Positive goodness sum = </a:t>
            </a:r>
          </a:p>
          <a:p>
            <a:r>
              <a:rPr lang="en-MY" dirty="0"/>
              <a:t>497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2EFC894-9EE6-5C54-4F41-852839B10096}"/>
              </a:ext>
            </a:extLst>
          </p:cNvPr>
          <p:cNvSpPr/>
          <p:nvPr/>
        </p:nvSpPr>
        <p:spPr>
          <a:xfrm rot="10800000">
            <a:off x="1133856" y="2193791"/>
            <a:ext cx="301752" cy="805441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9D8A980-3701-8F26-154E-542774772DD3}"/>
              </a:ext>
            </a:extLst>
          </p:cNvPr>
          <p:cNvSpPr/>
          <p:nvPr/>
        </p:nvSpPr>
        <p:spPr>
          <a:xfrm rot="10800000">
            <a:off x="3613916" y="2211590"/>
            <a:ext cx="301752" cy="764521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A2DBE98-3F89-BD2C-7202-A1435AA68DFD}"/>
              </a:ext>
            </a:extLst>
          </p:cNvPr>
          <p:cNvSpPr/>
          <p:nvPr/>
        </p:nvSpPr>
        <p:spPr>
          <a:xfrm rot="10800000">
            <a:off x="6231984" y="2229873"/>
            <a:ext cx="301752" cy="74579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A4A0AD3-00E8-8346-1276-FA3C48B6ECFC}"/>
              </a:ext>
            </a:extLst>
          </p:cNvPr>
          <p:cNvSpPr/>
          <p:nvPr/>
        </p:nvSpPr>
        <p:spPr>
          <a:xfrm>
            <a:off x="4475642" y="4875780"/>
            <a:ext cx="1134207" cy="3253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434A24F-9565-68A8-6CF2-260A5FC6EB30}"/>
              </a:ext>
            </a:extLst>
          </p:cNvPr>
          <p:cNvSpPr/>
          <p:nvPr/>
        </p:nvSpPr>
        <p:spPr>
          <a:xfrm>
            <a:off x="4473979" y="3426426"/>
            <a:ext cx="1134207" cy="3253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DD35AC-EFA3-7D8B-7820-7E447D78F563}"/>
              </a:ext>
            </a:extLst>
          </p:cNvPr>
          <p:cNvSpPr txBox="1"/>
          <p:nvPr/>
        </p:nvSpPr>
        <p:spPr>
          <a:xfrm>
            <a:off x="2496726" y="1860541"/>
            <a:ext cx="30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523CE8-F7FF-2E43-FD43-DB829A024D51}"/>
              </a:ext>
            </a:extLst>
          </p:cNvPr>
          <p:cNvSpPr txBox="1"/>
          <p:nvPr/>
        </p:nvSpPr>
        <p:spPr>
          <a:xfrm>
            <a:off x="5033146" y="1860541"/>
            <a:ext cx="30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11772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3" grpId="0"/>
      <p:bldP spid="14" grpId="0"/>
      <p:bldP spid="15" grpId="0" animBg="1"/>
      <p:bldP spid="16" grpId="0" animBg="1"/>
      <p:bldP spid="17" grpId="0" animBg="1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383C-86F8-0A8F-2A9B-09CEDDEF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4D22A-6514-F634-9929-9D337AC8B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0990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000" dirty="0"/>
              <a:t>Local Development</a:t>
            </a:r>
          </a:p>
          <a:p>
            <a:r>
              <a:rPr lang="en-MY" sz="2000" dirty="0"/>
              <a:t>Python 3.13 and the PyTorch2 (CUDA 13.0) ecosystem.</a:t>
            </a:r>
          </a:p>
          <a:p>
            <a:r>
              <a:rPr lang="en-MY" sz="2000" dirty="0"/>
              <a:t>NVIDIA GTX 1650 Ti mobile GPU</a:t>
            </a:r>
          </a:p>
          <a:p>
            <a:r>
              <a:rPr lang="en-MY" sz="2000" dirty="0"/>
              <a:t>AMD </a:t>
            </a:r>
            <a:r>
              <a:rPr lang="en-MY" sz="2000" dirty="0" err="1"/>
              <a:t>Ryzen</a:t>
            </a:r>
            <a:r>
              <a:rPr lang="en-MY" sz="2000" dirty="0"/>
              <a:t> 7 4800H </a:t>
            </a:r>
            <a:r>
              <a:rPr lang="en-MY" sz="2000" dirty="0" err="1"/>
              <a:t>iCPU</a:t>
            </a:r>
            <a:endParaRPr lang="en-MY" sz="2000" dirty="0"/>
          </a:p>
          <a:p>
            <a:r>
              <a:rPr lang="en-MY" sz="2000" dirty="0"/>
              <a:t>16GB of 3200 MT/s SODIMM RAM</a:t>
            </a:r>
          </a:p>
          <a:p>
            <a:endParaRPr lang="en-MY" sz="2000" dirty="0"/>
          </a:p>
          <a:p>
            <a:pPr marL="0" indent="0">
              <a:buNone/>
            </a:pPr>
            <a:r>
              <a:rPr lang="en-MY" sz="2000" dirty="0" err="1"/>
              <a:t>Colab</a:t>
            </a:r>
            <a:r>
              <a:rPr lang="en-MY" sz="2000" dirty="0"/>
              <a:t> and Kaggle</a:t>
            </a:r>
          </a:p>
          <a:p>
            <a:r>
              <a:rPr lang="en-MY" sz="2000" dirty="0"/>
              <a:t>Python 3.11</a:t>
            </a:r>
          </a:p>
          <a:p>
            <a:r>
              <a:rPr lang="en-MY" sz="2000" dirty="0"/>
              <a:t>NVIDIA T4 </a:t>
            </a:r>
          </a:p>
        </p:txBody>
      </p:sp>
    </p:spTree>
    <p:extLst>
      <p:ext uri="{BB962C8B-B14F-4D97-AF65-F5344CB8AC3E}">
        <p14:creationId xmlns:p14="http://schemas.microsoft.com/office/powerpoint/2010/main" val="1708315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C8B8-7E14-FADB-E7F2-B420D7DD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BAB9B-0784-C458-1F02-836629A0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1063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Training Loss</a:t>
            </a:r>
          </a:p>
          <a:p>
            <a:r>
              <a:rPr lang="en-US" sz="2000" dirty="0"/>
              <a:t>Plotting data from logs</a:t>
            </a:r>
          </a:p>
          <a:p>
            <a:r>
              <a:rPr lang="en-US" sz="2000" dirty="0"/>
              <a:t>Isolated neuron</a:t>
            </a:r>
          </a:p>
          <a:p>
            <a:r>
              <a:rPr lang="en-US" sz="2000" dirty="0"/>
              <a:t>Semi-implicit vs Explicit Euler</a:t>
            </a:r>
          </a:p>
          <a:p>
            <a:endParaRPr lang="en-M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A1074-17F5-2B31-5CAC-E74E5A66E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146" y="2040470"/>
            <a:ext cx="5668826" cy="3401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17518F-4092-A521-34E6-F36DAE8777D9}"/>
              </a:ext>
            </a:extLst>
          </p:cNvPr>
          <p:cNvSpPr txBox="1"/>
          <p:nvPr/>
        </p:nvSpPr>
        <p:spPr>
          <a:xfrm>
            <a:off x="5193146" y="5514875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Own Work</a:t>
            </a:r>
            <a:endParaRPr lang="en-MY" sz="900" dirty="0"/>
          </a:p>
        </p:txBody>
      </p:sp>
    </p:spTree>
    <p:extLst>
      <p:ext uri="{BB962C8B-B14F-4D97-AF65-F5344CB8AC3E}">
        <p14:creationId xmlns:p14="http://schemas.microsoft.com/office/powerpoint/2010/main" val="4084768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7B26-A25F-891A-B014-3F825928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36FF9-E535-D850-83EC-85D2E49B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954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Tested with MNIST, KMNIST and </a:t>
            </a:r>
            <a:r>
              <a:rPr lang="en-US" sz="2000" dirty="0" err="1"/>
              <a:t>FashionMNIST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F7656-B846-1814-D599-50BA4434D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24" y="2496251"/>
            <a:ext cx="9749521" cy="3129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35810F-057C-E2E3-0649-1030AAAF65C7}"/>
              </a:ext>
            </a:extLst>
          </p:cNvPr>
          <p:cNvSpPr txBox="1"/>
          <p:nvPr/>
        </p:nvSpPr>
        <p:spPr>
          <a:xfrm>
            <a:off x="751224" y="5726606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Own Work</a:t>
            </a:r>
            <a:endParaRPr lang="en-MY" sz="900" dirty="0"/>
          </a:p>
        </p:txBody>
      </p:sp>
    </p:spTree>
    <p:extLst>
      <p:ext uri="{BB962C8B-B14F-4D97-AF65-F5344CB8AC3E}">
        <p14:creationId xmlns:p14="http://schemas.microsoft.com/office/powerpoint/2010/main" val="3705443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D208C-548A-C12D-FFD0-2ACC348D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A6BD81-18FB-EFB6-3B8E-26662E040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0511" y="1414847"/>
            <a:ext cx="9721144" cy="39874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9B6482-D3F6-44FF-20C3-B6420919E98A}"/>
              </a:ext>
            </a:extLst>
          </p:cNvPr>
          <p:cNvSpPr txBox="1"/>
          <p:nvPr/>
        </p:nvSpPr>
        <p:spPr>
          <a:xfrm>
            <a:off x="926500" y="5541879"/>
            <a:ext cx="2035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Own Work</a:t>
            </a:r>
            <a:endParaRPr lang="en-MY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38815-6E3F-AB73-4604-86BBE26F2787}"/>
              </a:ext>
            </a:extLst>
          </p:cNvPr>
          <p:cNvSpPr txBox="1"/>
          <p:nvPr/>
        </p:nvSpPr>
        <p:spPr>
          <a:xfrm>
            <a:off x="4399877" y="5496360"/>
            <a:ext cx="5955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Update: There is also the 40 epoch MNIST which got 98.21%!</a:t>
            </a:r>
          </a:p>
        </p:txBody>
      </p:sp>
    </p:spTree>
    <p:extLst>
      <p:ext uri="{BB962C8B-B14F-4D97-AF65-F5344CB8AC3E}">
        <p14:creationId xmlns:p14="http://schemas.microsoft.com/office/powerpoint/2010/main" val="3688032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21C0-D083-C979-4D5D-CD762088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Future Work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81E73-1504-A5D5-0245-01A8182C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0990"/>
            <a:ext cx="8596668" cy="3880773"/>
          </a:xfrm>
        </p:spPr>
        <p:txBody>
          <a:bodyPr>
            <a:normAutofit/>
          </a:bodyPr>
          <a:lstStyle/>
          <a:p>
            <a:r>
              <a:rPr lang="en-MY" sz="2000" dirty="0"/>
              <a:t>More datasets, like the DVS dataset</a:t>
            </a:r>
          </a:p>
          <a:p>
            <a:r>
              <a:rPr lang="en-MY" sz="2000" dirty="0" err="1"/>
              <a:t>NoProp</a:t>
            </a:r>
            <a:endParaRPr lang="en-MY" sz="2000" dirty="0"/>
          </a:p>
          <a:p>
            <a:r>
              <a:rPr lang="en-MY" sz="2000" dirty="0"/>
              <a:t>Hormonal modulation networks</a:t>
            </a:r>
          </a:p>
          <a:p>
            <a:r>
              <a:rPr lang="en-MY" sz="2000" dirty="0"/>
              <a:t>“Sleeping”</a:t>
            </a:r>
          </a:p>
          <a:p>
            <a:r>
              <a:rPr lang="en-MY" sz="2000" dirty="0"/>
              <a:t>Implementation and benchmarks on real memristors</a:t>
            </a:r>
          </a:p>
        </p:txBody>
      </p:sp>
    </p:spTree>
    <p:extLst>
      <p:ext uri="{BB962C8B-B14F-4D97-AF65-F5344CB8AC3E}">
        <p14:creationId xmlns:p14="http://schemas.microsoft.com/office/powerpoint/2010/main" val="3795591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DC6B-A444-1EE0-B0D7-D8017AEC0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1682" y="1974643"/>
            <a:ext cx="7766936" cy="2705513"/>
          </a:xfrm>
        </p:spPr>
        <p:txBody>
          <a:bodyPr/>
          <a:lstStyle/>
          <a:p>
            <a:pPr algn="ctr"/>
            <a:r>
              <a:rPr lang="en-MY" dirty="0"/>
              <a:t>Thank you!</a:t>
            </a:r>
            <a:br>
              <a:rPr lang="en-MY" dirty="0"/>
            </a:br>
            <a:r>
              <a:rPr lang="en-MY" dirty="0"/>
              <a:t>Feel free to ask any questions</a:t>
            </a:r>
          </a:p>
        </p:txBody>
      </p:sp>
    </p:spTree>
    <p:extLst>
      <p:ext uri="{BB962C8B-B14F-4D97-AF65-F5344CB8AC3E}">
        <p14:creationId xmlns:p14="http://schemas.microsoft.com/office/powerpoint/2010/main" val="36049623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4071</TotalTime>
  <Words>770</Words>
  <Application>Microsoft Office PowerPoint</Application>
  <PresentationFormat>Widescreen</PresentationFormat>
  <Paragraphs>170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Bahnschrift</vt:lpstr>
      <vt:lpstr>Calibri</vt:lpstr>
      <vt:lpstr>Cambria Math</vt:lpstr>
      <vt:lpstr>Trebuchet MS</vt:lpstr>
      <vt:lpstr>Wingdings 3</vt:lpstr>
      <vt:lpstr>Facet</vt:lpstr>
      <vt:lpstr>Fully Memristive Spiking Neural Network with Forward-Forward Learning</vt:lpstr>
      <vt:lpstr>Problem Description</vt:lpstr>
      <vt:lpstr>Problem Description</vt:lpstr>
      <vt:lpstr>Problem Description</vt:lpstr>
      <vt:lpstr>SNN</vt:lpstr>
      <vt:lpstr>Memristor</vt:lpstr>
      <vt:lpstr>Fully Memristive Spiking Neural Networks (MSNN)</vt:lpstr>
      <vt:lpstr>Forward Forward</vt:lpstr>
      <vt:lpstr>My Contributions</vt:lpstr>
      <vt:lpstr>MSNN Forward Forward</vt:lpstr>
      <vt:lpstr>MSNN Forward Forward</vt:lpstr>
      <vt:lpstr>MSNN Forward Forward</vt:lpstr>
      <vt:lpstr>MSNN Forward Forward</vt:lpstr>
      <vt:lpstr>MSNN Forward Forward</vt:lpstr>
      <vt:lpstr>MSNN Forward Forward</vt:lpstr>
      <vt:lpstr>MSNN Forward Forward</vt:lpstr>
      <vt:lpstr>System</vt:lpstr>
      <vt:lpstr>Tests</vt:lpstr>
      <vt:lpstr>Experiment</vt:lpstr>
      <vt:lpstr>Results</vt:lpstr>
      <vt:lpstr>Future Work</vt:lpstr>
      <vt:lpstr>Thank you! Feel free to ask any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Ooi</dc:creator>
  <cp:lastModifiedBy>Peter Ooi</cp:lastModifiedBy>
  <cp:revision>20</cp:revision>
  <dcterms:created xsi:type="dcterms:W3CDTF">2026-04-24T23:24:46Z</dcterms:created>
  <dcterms:modified xsi:type="dcterms:W3CDTF">2026-04-28T18:32:49Z</dcterms:modified>
</cp:coreProperties>
</file>